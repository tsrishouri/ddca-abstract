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ree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02920"/>
            <a:ext cx="5074920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914400"/>
            <a:ext cx="5577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32D2DC"/>
                </a:solidFill>
              </a:defRPr>
            </a:pPr>
            <a:r>
              <a:t>DIGITAL DESIGN &amp; COMPUTER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6692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Design and Simulation of an</a:t>
            </a:r>
            <a:br/>
            <a:r>
              <a:t>Automatic Street Light Control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154680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32D2DC"/>
                </a:solidFill>
              </a:defRPr>
            </a:pPr>
            <a:r>
              <a:t>Using Combinational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69080"/>
            <a:ext cx="53949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A5B1BE"/>
                </a:solidFill>
              </a:defRPr>
            </a:pPr>
            <a:r>
              <a:t>Smart control • Energy efficiency • Safety • Logisim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532120"/>
            <a:ext cx="5394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F0F4F8"/>
                </a:solidFill>
              </a:defRPr>
            </a:pPr>
            <a:r>
              <a:t>SRISHOURI THOTTEMPUDI  •  PRAVEEN KUMAR</a:t>
            </a:r>
            <a:br/>
            <a:r>
              <a:t>PRAVALIKA BODAPATI  •  PUJITHA VEMULAPALLI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01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Source-based abstract translated into presentation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675120" cy="429768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6345936" cy="4078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0">
                <a:solidFill>
                  <a:srgbClr val="F0F4F8"/>
                </a:solidFill>
              </a:defRPr>
            </a:pPr>
            <a:r>
              <a:t>The proposed system is a smart digital street-light controller that uses multiple input conditions to decide the required lighting response.</a:t>
            </a:r>
            <a:br/>
            <a:br/>
            <a:r>
              <a:t>• Day/night status</a:t>
            </a:r>
            <a:br/>
            <a:r>
              <a:t>• Vehicle or pedestrian presence</a:t>
            </a:r>
            <a:br/>
            <a:r>
              <a:t>• Emergency condition</a:t>
            </a:r>
            <a:br/>
            <a:r>
              <a:t>• Manual override</a:t>
            </a:r>
            <a:br/>
            <a:r>
              <a:t>• Zone-based activation for reducing power wastage</a:t>
            </a:r>
            <a:br/>
            <a:br/>
            <a:r>
              <a:t>Combinational logic gates process these inputs and produce optimized control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840480" cy="123444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1527048"/>
            <a:ext cx="3511296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0F4F8"/>
                </a:solidFill>
              </a:defRPr>
            </a:pPr>
            <a:r>
              <a:t>GOAL</a:t>
            </a:r>
            <a:br/>
            <a:r>
              <a:t>Energy efficiency + road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880360"/>
            <a:ext cx="3840480" cy="123444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2990088"/>
            <a:ext cx="3511296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1">
                <a:solidFill>
                  <a:srgbClr val="F0F4F8"/>
                </a:solidFill>
              </a:defRPr>
            </a:pPr>
            <a:r>
              <a:t>METHOD</a:t>
            </a:r>
            <a:br/>
            <a:r>
              <a:t>Truth table → K-Map → 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343400"/>
            <a:ext cx="3840480" cy="123444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4453128"/>
            <a:ext cx="3511296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0F4F8"/>
                </a:solidFill>
              </a:defRPr>
            </a:pPr>
            <a:r>
              <a:t>SIMULATION</a:t>
            </a:r>
            <a:br/>
            <a:r>
              <a:t>Test real-world operating conditions in Logisim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02 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Why automation is useful for street 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2D2DC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0F4F8"/>
                </a:solidFill>
              </a:defRPr>
            </a:pPr>
            <a:r>
              <a:t>Reduce wastage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77440"/>
            <a:ext cx="3383280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87168"/>
            <a:ext cx="305409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A5B1BE"/>
                </a:solidFill>
              </a:defRPr>
            </a:pPr>
            <a:r>
              <a:t>Avoid unnecessary illumination when lighting is not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2D2DC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0F4F8"/>
                </a:solidFill>
              </a:defRPr>
            </a:pPr>
            <a:r>
              <a:t>Improve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383280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487168"/>
            <a:ext cx="305409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A5B1BE"/>
                </a:solidFill>
              </a:defRPr>
            </a:pPr>
            <a:r>
              <a:t>Give priority to lighting during emergency conditions.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4173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2D2DC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874519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0F4F8"/>
                </a:solidFill>
              </a:defRPr>
            </a:pPr>
            <a:r>
              <a:t>Automate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377440"/>
            <a:ext cx="3383280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2487168"/>
            <a:ext cx="305409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A5B1BE"/>
                </a:solidFill>
              </a:defRPr>
            </a:pPr>
            <a:r>
              <a:t>Replace continuous/manual operation with condition-based logic.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2D2DC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3192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0F4F8"/>
                </a:solidFill>
              </a:defRPr>
            </a:pPr>
            <a:r>
              <a:t>Control by zone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34840"/>
            <a:ext cx="3383280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544568"/>
            <a:ext cx="305409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A5B1BE"/>
                </a:solidFill>
              </a:defRPr>
            </a:pPr>
            <a:r>
              <a:t>Activate only the required road section where possible.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47472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2D2DC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93192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0F4F8"/>
                </a:solidFill>
              </a:defRPr>
            </a:pPr>
            <a:r>
              <a:t>Build &amp; verify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434840"/>
            <a:ext cx="3383280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4544568"/>
            <a:ext cx="305409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0">
                <a:solidFill>
                  <a:srgbClr val="A5B1BE"/>
                </a:solidFill>
              </a:defRPr>
            </a:pPr>
            <a:r>
              <a:t>Implement the Boolean logic and test it through simulation.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03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Inputs → combinational logic → lighting zones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148840" cy="530352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1819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F0F4F8"/>
                </a:solidFill>
              </a:defRPr>
            </a:pPr>
            <a:r>
              <a:t>Night /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67128"/>
            <a:ext cx="2148840" cy="530352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76856"/>
            <a:ext cx="1819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F0F4F8"/>
                </a:solidFill>
              </a:defRPr>
            </a:pPr>
            <a:r>
              <a:t>Vehicle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08376"/>
            <a:ext cx="2148840" cy="530352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118104"/>
            <a:ext cx="1819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F0F4F8"/>
                </a:solidFill>
              </a:defRPr>
            </a:pPr>
            <a:r>
              <a:t>Pedestrian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49624"/>
            <a:ext cx="2148840" cy="530352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59352"/>
            <a:ext cx="1819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F0F4F8"/>
                </a:solidFill>
              </a:defRPr>
            </a:pPr>
            <a:r>
              <a:t>Emergency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90872"/>
            <a:ext cx="2148840" cy="530352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800600"/>
            <a:ext cx="181965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F0F4F8"/>
                </a:solidFill>
              </a:defRPr>
            </a:pPr>
            <a:r>
              <a:t>Manual 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874519"/>
            <a:ext cx="2240280" cy="25603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1984248"/>
            <a:ext cx="1911096" cy="23408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0F4F8"/>
                </a:solidFill>
              </a:defRPr>
            </a:pPr>
            <a:r>
              <a:t>COMBINATIONAL</a:t>
            </a:r>
            <a:br/>
            <a:r>
              <a:t>LOGIC</a:t>
            </a:r>
            <a:br/>
            <a:br/>
            <a:r>
              <a:t>AND / OR</a:t>
            </a:r>
            <a:br/>
            <a:r>
              <a:t>GATE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508760"/>
            <a:ext cx="2286000" cy="658368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618488"/>
            <a:ext cx="1956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F0F4F8"/>
                </a:solidFill>
              </a:defRPr>
            </a:pPr>
            <a:r>
              <a:t>Zone 1 Light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834639"/>
            <a:ext cx="2286000" cy="658368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2944368"/>
            <a:ext cx="1956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F0F4F8"/>
                </a:solidFill>
              </a:defRPr>
            </a:pPr>
            <a:r>
              <a:t>Zone 2 Light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4160520"/>
            <a:ext cx="2286000" cy="658368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4270248"/>
            <a:ext cx="19568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F0F4F8"/>
                </a:solidFill>
              </a:defRPr>
            </a:pPr>
            <a:r>
              <a:t>Zone 3 Light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1591056"/>
            <a:ext cx="822960" cy="1335024"/>
          </a:xfrm>
          <a:prstGeom prst="line">
            <a:avLst/>
          </a:prstGeom>
          <a:ln w="25400">
            <a:solidFill>
              <a:srgbClr val="3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34640" y="2432304"/>
            <a:ext cx="822960" cy="493776"/>
          </a:xfrm>
          <a:prstGeom prst="line">
            <a:avLst/>
          </a:prstGeom>
          <a:ln w="25400">
            <a:solidFill>
              <a:srgbClr val="3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834640" y="2926080"/>
            <a:ext cx="822960" cy="347472"/>
          </a:xfrm>
          <a:prstGeom prst="line">
            <a:avLst/>
          </a:prstGeom>
          <a:ln w="25400">
            <a:solidFill>
              <a:srgbClr val="3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834640" y="2926080"/>
            <a:ext cx="822960" cy="1188720"/>
          </a:xfrm>
          <a:prstGeom prst="line">
            <a:avLst/>
          </a:prstGeom>
          <a:ln w="25400">
            <a:solidFill>
              <a:srgbClr val="3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834640" y="2926080"/>
            <a:ext cx="822960" cy="2029968"/>
          </a:xfrm>
          <a:prstGeom prst="line">
            <a:avLst/>
          </a:prstGeom>
          <a:ln w="25400">
            <a:solidFill>
              <a:srgbClr val="3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897880" y="1828800"/>
            <a:ext cx="2011680" cy="1051560"/>
          </a:xfrm>
          <a:prstGeom prst="line">
            <a:avLst/>
          </a:prstGeom>
          <a:ln w="25400">
            <a:solidFill>
              <a:srgbClr val="50D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97880" y="2880360"/>
            <a:ext cx="2011680" cy="274320"/>
          </a:xfrm>
          <a:prstGeom prst="line">
            <a:avLst/>
          </a:prstGeom>
          <a:ln w="25400">
            <a:solidFill>
              <a:srgbClr val="50D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97880" y="2880360"/>
            <a:ext cx="2011680" cy="1600200"/>
          </a:xfrm>
          <a:prstGeom prst="line">
            <a:avLst/>
          </a:prstGeom>
          <a:ln w="25400">
            <a:solidFill>
              <a:srgbClr val="50D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469880" y="1920240"/>
            <a:ext cx="1097280" cy="201168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34472" y="2029968"/>
            <a:ext cx="768096" cy="1792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Smart</a:t>
            </a:r>
            <a:br/>
            <a:r>
              <a:t>lighting</a:t>
            </a:r>
            <a:br/>
            <a:r>
              <a:t>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04  Proposed Boolean Control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A clear demonstration equation for the gate-level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91440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497433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1">
                <a:solidFill>
                  <a:srgbClr val="F0F4F8"/>
                </a:solidFill>
              </a:defRPr>
            </a:pPr>
            <a:r>
              <a:t>Let N = Night, V = Vehicle, P = Pedestrian,</a:t>
            </a:r>
            <a:br/>
            <a:r>
              <a:t>E = Emergency, M = Manual Override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60320"/>
            <a:ext cx="5303520" cy="10515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670048"/>
            <a:ext cx="4974336" cy="8321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32D2DC"/>
                </a:solidFill>
              </a:defRPr>
            </a:pPr>
            <a:r>
              <a:t>F = E + N(V + P + 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5303520" cy="15087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995928"/>
            <a:ext cx="4974336" cy="128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0">
                <a:solidFill>
                  <a:srgbClr val="F0F4F8"/>
                </a:solidFill>
              </a:defRPr>
            </a:pPr>
            <a:r>
              <a:t>Interpretation:</a:t>
            </a:r>
            <a:br/>
            <a:r>
              <a:t>• Emergency can force the light ON.</a:t>
            </a:r>
            <a:br/>
            <a:r>
              <a:t>• At night, detected activity or manual override can request lighting.</a:t>
            </a:r>
            <a:br/>
            <a:r>
              <a:t>• The expression can be expanded into gate-level AND/OR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25880"/>
            <a:ext cx="4846320" cy="91440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435607"/>
            <a:ext cx="451713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FFAA50"/>
                </a:solidFill>
              </a:defRPr>
            </a:pPr>
            <a:r>
              <a:t>IMPORTANT</a:t>
            </a:r>
            <a:br/>
            <a:r>
              <a:t>This equation is a proposed simulation model derived from the source requirements; the abstract does not specify one unique Boolean equation.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560320"/>
            <a:ext cx="4846320" cy="25603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670048"/>
            <a:ext cx="4517136" cy="23408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F0F4F8"/>
                </a:solidFill>
              </a:defRPr>
            </a:pPr>
            <a:r>
              <a:t>F = E + NV + NP + NM</a:t>
            </a:r>
            <a:br/>
            <a:br/>
            <a:r>
              <a:t>1. OR: V, P, M</a:t>
            </a:r>
            <a:br/>
            <a:r>
              <a:t>2. AND: N with activity request</a:t>
            </a:r>
            <a:br/>
            <a:r>
              <a:t>3. OR: emergency with normal request</a:t>
            </a:r>
            <a:br/>
            <a:r>
              <a:t>4. Output: LIGHT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05  Truth-Table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Representative operating cases for the proposed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35607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3258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435607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3258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912" y="1435607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3258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435607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35607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3258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1435607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8288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9385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18288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10512" y="19385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18288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4912" y="19385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18288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19385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18288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19385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18288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8112" y="19385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3317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24414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23317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10512" y="24414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23317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4912" y="24414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23317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24414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23317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24414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0" y="23317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24414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283464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294436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45920" y="283464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10512" y="294436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0" y="283464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24912" y="294436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74720" y="283464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39312" y="294436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283464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53712" y="294436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03520" y="283464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68112" y="294436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333756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344728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645920" y="333756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10512" y="344728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60320" y="333756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24912" y="344728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74720" y="333756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39312" y="344728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89120" y="333756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53712" y="344728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03520" y="333756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68112" y="344728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38404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2" y="395020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645920" y="38404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10512" y="395020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60320" y="38404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24912" y="395020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474720" y="38404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39312" y="395020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89120" y="38404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53712" y="395020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303520" y="384048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68112" y="395020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43434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6112" y="44531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645920" y="43434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10512" y="44531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560320" y="43434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24912" y="44531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474720" y="43434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39312" y="44531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89120" y="43434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53712" y="44531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03520" y="434340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68112" y="445312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48463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6112" y="49560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645920" y="48463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10512" y="49560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560320" y="48463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24912" y="49560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474720" y="48463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39312" y="49560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389120" y="48463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553712" y="49560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303520" y="4846320"/>
            <a:ext cx="868680" cy="5029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68112" y="4956048"/>
            <a:ext cx="539496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315200" y="1325880"/>
            <a:ext cx="4160520" cy="21031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79792" y="1435607"/>
            <a:ext cx="3831335" cy="1883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F0F4F8"/>
                </a:solidFill>
              </a:defRPr>
            </a:pPr>
            <a:r>
              <a:t>Sample interpretation</a:t>
            </a:r>
            <a:br/>
            <a:br/>
            <a:r>
              <a:t>Night + vehicle → ON</a:t>
            </a:r>
            <a:br/>
            <a:r>
              <a:t>Night + pedestrian → ON</a:t>
            </a:r>
            <a:br/>
            <a:r>
              <a:t>Emergency → ON</a:t>
            </a:r>
            <a:br/>
            <a:r>
              <a:t>Manual override at night → ON</a:t>
            </a:r>
            <a:br/>
            <a:r>
              <a:t>Day + no demand → OFF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315200" y="3703320"/>
            <a:ext cx="4160520" cy="15087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79792" y="3813048"/>
            <a:ext cx="3831335" cy="128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32D2DC"/>
                </a:solidFill>
              </a:defRPr>
            </a:pPr>
            <a:r>
              <a:t>The full design can be expanded to all 2⁵ = 32 input combinations and verified in Logisim.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06  K-Map Simplification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Reducing the normal night-demand logic before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840480" cy="7315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3511296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100" b="1">
                <a:solidFill>
                  <a:srgbClr val="32D2DC"/>
                </a:solidFill>
              </a:defRPr>
            </a:pPr>
            <a:r>
              <a:t>Example sub-function:  G = N(V + 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840480" cy="12801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167128"/>
            <a:ext cx="3511296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F0F4F8"/>
                </a:solidFill>
              </a:defRPr>
            </a:pPr>
            <a:r>
              <a:t>For the normal lighting path:</a:t>
            </a:r>
            <a:br/>
            <a:r>
              <a:t>G = NV + NP</a:t>
            </a:r>
            <a:br/>
            <a:r>
              <a:t>The K-Map groups adjacent 1s to obtain a compact SOP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91440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A5B1BE"/>
                </a:solidFill>
              </a:defRPr>
            </a:pPr>
            <a: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91440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A5B1BE"/>
                </a:solidFill>
              </a:defRPr>
            </a:pPr>
            <a:r>
              <a:t>VP (Gray order)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41732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52704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41732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152704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52704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41732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28632" y="152704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240280"/>
            <a:ext cx="1097280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1" y="2350008"/>
            <a:ext cx="76809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3063240"/>
            <a:ext cx="1097280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1" y="3172968"/>
            <a:ext cx="768096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24028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235000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224028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2631" y="235000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224028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235000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224028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28632" y="235000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06324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1" y="317296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0">
                <a:solidFill>
                  <a:srgbClr val="F0F4F8"/>
                </a:solidFill>
              </a:defRPr>
            </a:pPr>
            <a: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306324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2631" y="317296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06324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317296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3063240"/>
            <a:ext cx="1115568" cy="8229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28632" y="3172968"/>
            <a:ext cx="78638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F0F4F8"/>
                </a:solidFill>
              </a:defRPr>
            </a:pPr>
            <a: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92040" y="3886200"/>
            <a:ext cx="5303520" cy="10515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1" y="3995928"/>
            <a:ext cx="4974336" cy="8321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900" b="1">
                <a:solidFill>
                  <a:srgbClr val="F0F4F8"/>
                </a:solidFill>
              </a:defRPr>
            </a:pPr>
            <a:r>
              <a:t>Grouped 1s →  NV + NP</a:t>
            </a:r>
            <a:br/>
            <a:r>
              <a:t>Then combine with emergency/manual path to form the complete controller.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07  Logisim Circuit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Gate-level implementation for simulation</a:t>
            </a:r>
          </a:p>
        </p:txBody>
      </p:sp>
      <p:pic>
        <p:nvPicPr>
          <p:cNvPr id="5" name="Picture 4" descr="logisim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08  Simulation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Real-world operating conditions to verify in Logisim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7432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24140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32D2DC"/>
                </a:solidFill>
              </a:defRPr>
            </a:pPr>
            <a:r>
              <a:t>DAY / NO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325880"/>
            <a:ext cx="36576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435607"/>
            <a:ext cx="33284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N=0, V=0, P=0, E=0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25880"/>
            <a:ext cx="356616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62671" y="1435607"/>
            <a:ext cx="323697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50DC96"/>
                </a:solidFill>
              </a:defRPr>
            </a:pPr>
            <a:r>
              <a:t>Lights 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40280"/>
            <a:ext cx="27432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350008"/>
            <a:ext cx="24140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32D2DC"/>
                </a:solidFill>
              </a:defRPr>
            </a:pPr>
            <a:r>
              <a:t>NIGHT / VEHICLE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240280"/>
            <a:ext cx="36576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350008"/>
            <a:ext cx="33284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N=1, V=1, P=0, E=0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240280"/>
            <a:ext cx="356616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62671" y="2350008"/>
            <a:ext cx="323697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50DC96"/>
                </a:solidFill>
              </a:defRPr>
            </a:pPr>
            <a:r>
              <a:t>Relevant zone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27432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264408"/>
            <a:ext cx="24140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32D2DC"/>
                </a:solidFill>
              </a:defRPr>
            </a:pPr>
            <a:r>
              <a:t>NIGHT / PEDESTRIAN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3154680"/>
            <a:ext cx="36576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6472" y="3264408"/>
            <a:ext cx="33284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N=1, V=0, P=1, E=0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154680"/>
            <a:ext cx="356616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1" y="3264408"/>
            <a:ext cx="323697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50DC96"/>
                </a:solidFill>
              </a:defRPr>
            </a:pPr>
            <a:r>
              <a:t>Relevant zone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069080"/>
            <a:ext cx="27432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178808"/>
            <a:ext cx="24140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32D2DC"/>
                </a:solidFill>
              </a:defRPr>
            </a:pPr>
            <a:r>
              <a:t>EMERGENCY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069080"/>
            <a:ext cx="36576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6472" y="4178808"/>
            <a:ext cx="33284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E=1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4069080"/>
            <a:ext cx="356616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62671" y="4178808"/>
            <a:ext cx="323697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50DC96"/>
                </a:solidFill>
              </a:defRPr>
            </a:pPr>
            <a:r>
              <a:t>Priority lighting 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83480"/>
            <a:ext cx="27432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5093208"/>
            <a:ext cx="24140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32D2DC"/>
                </a:solidFill>
              </a:defRPr>
            </a:pPr>
            <a:r>
              <a:t>MANUAL OVERRIDE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4983480"/>
            <a:ext cx="365760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5093208"/>
            <a:ext cx="332841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F0F4F8"/>
                </a:solidFill>
              </a:defRPr>
            </a:pPr>
            <a:r>
              <a:t>M=1 at night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4983480"/>
            <a:ext cx="3566160" cy="5943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62671" y="5093208"/>
            <a:ext cx="3236976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50DC96"/>
                </a:solidFill>
              </a:defRPr>
            </a:pPr>
            <a:r>
              <a:t>Lighting request 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989320"/>
            <a:ext cx="10378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A5B1BE"/>
                </a:solidFill>
              </a:defRPr>
            </a:pPr>
            <a:r>
              <a:t>Verification target: outputs should change predictably when any input condition is toggled.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09  Zone-Based &amp; Energy-Saving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Lighting only the required section of the road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154680" cy="25603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2825496" cy="23408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0F4F8"/>
                </a:solidFill>
              </a:defRPr>
            </a:pPr>
            <a:r>
              <a:t>ZONE 1</a:t>
            </a:r>
            <a:br/>
            <a:br/>
            <a:r>
              <a:t>Presence detected</a:t>
            </a:r>
            <a:br/>
            <a:r>
              <a:t>→ zone request</a:t>
            </a:r>
            <a:br/>
            <a:r>
              <a:t>→ light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2423160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32D2DC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154680" cy="25603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18488"/>
            <a:ext cx="2825496" cy="23408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0F4F8"/>
                </a:solidFill>
              </a:defRPr>
            </a:pPr>
            <a:r>
              <a:t>ZONE 2</a:t>
            </a:r>
            <a:br/>
            <a:br/>
            <a:r>
              <a:t>Presence detected</a:t>
            </a:r>
            <a:br/>
            <a:r>
              <a:t>→ zone request</a:t>
            </a:r>
            <a:br/>
            <a:r>
              <a:t>→ light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423160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 b="1">
                <a:solidFill>
                  <a:srgbClr val="32D2DC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08760"/>
            <a:ext cx="3154680" cy="256032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618488"/>
            <a:ext cx="2825496" cy="23408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F0F4F8"/>
                </a:solidFill>
              </a:defRPr>
            </a:pPr>
            <a:r>
              <a:t>ZONE 3</a:t>
            </a:r>
            <a:br/>
            <a:br/>
            <a:r>
              <a:t>Presence detected</a:t>
            </a:r>
            <a:br/>
            <a:r>
              <a:t>→ zone request</a:t>
            </a:r>
            <a:br/>
            <a:r>
              <a:t>→ light 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10058400" cy="91440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681728"/>
            <a:ext cx="972921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32D2DC"/>
                </a:solidFill>
              </a:defRPr>
            </a:pPr>
            <a:r>
              <a:t>Zone-based control reduces power wastage by activating only the required section rather than illuminating the entire road.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4F8"/>
                </a:solidFill>
              </a:defRPr>
            </a:pPr>
            <a:r>
              <a:t>10  Conclusion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5B1BE"/>
                </a:solidFill>
              </a:defRPr>
            </a:pPr>
            <a:r>
              <a:t>Practical DDCA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486400" cy="228600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5157216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0">
                <a:solidFill>
                  <a:srgbClr val="F0F4F8"/>
                </a:solidFill>
              </a:defRPr>
            </a:pPr>
            <a:r>
              <a:t>The project demonstrates how DDCA concepts can be applied to a practical street-lighting problem:</a:t>
            </a:r>
            <a:br/>
            <a:br/>
            <a:r>
              <a:t>• Combinational logic for decision making</a:t>
            </a:r>
            <a:br/>
            <a:r>
              <a:t>• Truth tables and K-Maps for Boolean simplification</a:t>
            </a:r>
            <a:br/>
            <a:r>
              <a:t>• Gate-level circuit design</a:t>
            </a:r>
            <a:br/>
            <a:r>
              <a:t>• Logisim simulation and verification</a:t>
            </a:r>
            <a:br/>
            <a:r>
              <a:t>• Energy efficiency and safety through conditional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25880"/>
            <a:ext cx="4754880" cy="228600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1" y="1435607"/>
            <a:ext cx="4425696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0F4F8"/>
                </a:solidFill>
              </a:defRPr>
            </a:pPr>
            <a:r>
              <a:t>CREATED BY</a:t>
            </a:r>
            <a:br/>
            <a:br/>
            <a:r>
              <a:t>SRISHOURI THOTTEMPUDI — 2620030041</a:t>
            </a:r>
            <a:br/>
            <a:r>
              <a:t>PRAVEEN KUMAR — 2620030030</a:t>
            </a:r>
            <a:br/>
            <a:r>
              <a:t>PRAVALIKA BODAPATI — 2620030029</a:t>
            </a:r>
            <a:br/>
            <a:r>
              <a:t>PUJITHA VEMULAPALLI — 2620030051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977639"/>
            <a:ext cx="4754880" cy="1051560"/>
          </a:xfrm>
          <a:prstGeom prst="roundRect">
            <a:avLst/>
          </a:prstGeom>
          <a:solidFill>
            <a:srgbClr val="181F2B"/>
          </a:solidFill>
          <a:ln>
            <a:solidFill>
              <a:srgbClr val="2D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4087368"/>
            <a:ext cx="4425696" cy="8321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2D2DC"/>
                </a:solidFill>
              </a:defRPr>
            </a:pPr>
            <a:r>
              <a:t>SCALABLE SYSTEM DESIGN</a:t>
            </a:r>
            <a:br/>
            <a:r>
              <a:t>The source highlights pedestrian detection, vehicle detection, safety enhancement, power optimization, and scalability.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32D2DC"/>
                </a:solidFill>
              </a:defRPr>
            </a:pPr>
            <a: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5B1B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